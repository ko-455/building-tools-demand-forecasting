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Автоматизированная ML-система прогнозирования спроса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Ниша: ручные строительные инструменты, Building Supply Store Sales 2020-2024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53035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Цель: прогноз недельного спроса по товару и магазину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Бизнес-эффект: точнее закупки, меньше дефицита и лишних остатков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Результат: воспроизводимый ML-пайплайн с AutoML, Docker, CI/CD, тестами и мониторингом</a:t>
            </a:r>
          </a:p>
        </p:txBody>
      </p:sp>
      <p:pic>
        <p:nvPicPr>
          <p:cNvPr id="5" name="Picture 4" descr="weekly_tool_dem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234440"/>
            <a:ext cx="5715000" cy="28803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85800" y="4343400"/>
            <a:ext cx="205740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D9488"/>
                </a:solidFill>
              </a:defRPr>
            </a:pPr>
            <a:r>
              <a:t>77</a:t>
            </a:r>
          </a:p>
          <a:p>
            <a:pPr algn="ctr">
              <a:defRPr sz="900">
                <a:solidFill>
                  <a:srgbClr val="475569"/>
                </a:solidFill>
              </a:defRPr>
            </a:pPr>
            <a:r>
              <a:t>рядов товар-магазин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4343400"/>
            <a:ext cx="205740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2563EB"/>
                </a:solidFill>
              </a:defRPr>
            </a:pPr>
            <a:r>
              <a:t>20 174</a:t>
            </a:r>
          </a:p>
          <a:p>
            <a:pPr algn="ctr">
              <a:defRPr sz="900">
                <a:solidFill>
                  <a:srgbClr val="475569"/>
                </a:solidFill>
              </a:defRPr>
            </a:pPr>
            <a:r>
              <a:t>строк после ETL</a:t>
            </a:r>
          </a:p>
        </p:txBody>
      </p:sp>
      <p:sp>
        <p:nvSpPr>
          <p:cNvPr id="8" name="Rectangle 7"/>
          <p:cNvSpPr/>
          <p:nvPr/>
        </p:nvSpPr>
        <p:spPr>
          <a:xfrm>
            <a:off x="5166360" y="4343400"/>
            <a:ext cx="205740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DC2626"/>
                </a:solidFill>
              </a:defRPr>
            </a:pPr>
            <a:r>
              <a:t>16 недель</a:t>
            </a:r>
          </a:p>
          <a:p>
            <a:pPr algn="ctr">
              <a:defRPr sz="900">
                <a:solidFill>
                  <a:srgbClr val="475569"/>
                </a:solidFill>
              </a:defRPr>
            </a:pPr>
            <a:r>
              <a:t>holdout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4652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Данные и ETL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Из транзакций продаж построены недельные временные ряды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539496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Extract: чтение CSV и проверка обязательных колонок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Transform: фильтрация product_type = Tool, недельная агрегация, полный календарь недель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Features: календарные признаки, лаги 1/2/4/8 недель, rolling mean/std, цена и delivery share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Load: joblib-модель, CSV-прогнозы, JSON-метрики, PNG-графики</a:t>
            </a:r>
          </a:p>
        </p:txBody>
      </p:sp>
      <p:pic>
        <p:nvPicPr>
          <p:cNvPr id="5" name="Picture 4" descr="top_tool_produ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143000"/>
            <a:ext cx="5440680" cy="2971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881360" y="644652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Архитектура ML-системы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Автоматизация выбора модели через GridSearchCV и TimeSeriesSplit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80160"/>
            <a:ext cx="10424160" cy="3017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Preprocessing: OneHotEncoder для категорий, StandardScaler для числовых признаков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AutoML-кандидаты: Ridge, RandomForestRegressor, HistGradientBoostingRegressor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Валидация: временные разбиения без утечки будущих данных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Лучшая модель: RandomForestRegressor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617720"/>
            <a:ext cx="205740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2563EB"/>
                </a:solidFill>
              </a:defRPr>
            </a:pPr>
            <a:r>
              <a:t>8</a:t>
            </a:r>
          </a:p>
          <a:p>
            <a:pPr algn="ctr">
              <a:defRPr sz="900">
                <a:solidFill>
                  <a:srgbClr val="475569"/>
                </a:solidFill>
              </a:defRPr>
            </a:pPr>
            <a:r>
              <a:t>max_depth</a:t>
            </a:r>
          </a:p>
        </p:txBody>
      </p:sp>
      <p:sp>
        <p:nvSpPr>
          <p:cNvPr id="6" name="Rectangle 5"/>
          <p:cNvSpPr/>
          <p:nvPr/>
        </p:nvSpPr>
        <p:spPr>
          <a:xfrm>
            <a:off x="3246120" y="4617720"/>
            <a:ext cx="205740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D9488"/>
                </a:solidFill>
              </a:defRPr>
            </a:pPr>
            <a:r>
              <a:t>3</a:t>
            </a:r>
          </a:p>
          <a:p>
            <a:pPr algn="ctr">
              <a:defRPr sz="900">
                <a:solidFill>
                  <a:srgbClr val="475569"/>
                </a:solidFill>
              </a:defRPr>
            </a:pPr>
            <a:r>
              <a:t>min_samples_leaf</a:t>
            </a:r>
          </a:p>
        </p:txBody>
      </p:sp>
      <p:sp>
        <p:nvSpPr>
          <p:cNvPr id="7" name="Rectangle 6"/>
          <p:cNvSpPr/>
          <p:nvPr/>
        </p:nvSpPr>
        <p:spPr>
          <a:xfrm>
            <a:off x="5577840" y="4617720"/>
            <a:ext cx="205740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DC2626"/>
                </a:solidFill>
              </a:defRPr>
            </a:pPr>
            <a:r>
              <a:t>160</a:t>
            </a:r>
          </a:p>
          <a:p>
            <a:pPr algn="ctr">
              <a:defRPr sz="900">
                <a:solidFill>
                  <a:srgbClr val="475569"/>
                </a:solidFill>
              </a:defRPr>
            </a:pPr>
            <a:r>
              <a:t>n_estimators</a:t>
            </a:r>
          </a:p>
        </p:txBody>
      </p:sp>
      <p:sp>
        <p:nvSpPr>
          <p:cNvPr id="8" name="Rectangle 7"/>
          <p:cNvSpPr/>
          <p:nvPr/>
        </p:nvSpPr>
        <p:spPr>
          <a:xfrm>
            <a:off x="7909560" y="4617720"/>
            <a:ext cx="205740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2563EB"/>
                </a:solidFill>
              </a:defRPr>
            </a:pPr>
            <a:r>
              <a:t>2.603</a:t>
            </a:r>
          </a:p>
          <a:p>
            <a:pPr algn="ctr">
              <a:defRPr sz="900">
                <a:solidFill>
                  <a:srgbClr val="475569"/>
                </a:solidFill>
              </a:defRPr>
            </a:pPr>
            <a:r>
              <a:t>CV MAE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4652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Результаты модели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Holdout: последние 16 недель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205740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2563EB"/>
                </a:solidFill>
              </a:defRPr>
            </a:pPr>
            <a:r>
              <a:t>2.780</a:t>
            </a:r>
          </a:p>
          <a:p>
            <a:pPr algn="ctr">
              <a:defRPr sz="900">
                <a:solidFill>
                  <a:srgbClr val="475569"/>
                </a:solidFill>
              </a:defRPr>
            </a:pPr>
            <a:r>
              <a:t>MAE</a:t>
            </a:r>
          </a:p>
        </p:txBody>
      </p:sp>
      <p:sp>
        <p:nvSpPr>
          <p:cNvPr id="5" name="Rectangle 4"/>
          <p:cNvSpPr/>
          <p:nvPr/>
        </p:nvSpPr>
        <p:spPr>
          <a:xfrm>
            <a:off x="2971800" y="1234440"/>
            <a:ext cx="205740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DC2626"/>
                </a:solidFill>
              </a:defRPr>
            </a:pPr>
            <a:r>
              <a:t>7.223</a:t>
            </a:r>
          </a:p>
          <a:p>
            <a:pPr algn="ctr">
              <a:defRPr sz="900">
                <a:solidFill>
                  <a:srgbClr val="475569"/>
                </a:solidFill>
              </a:defRPr>
            </a:pPr>
            <a:r>
              <a:t>RMSE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80" y="1234440"/>
            <a:ext cx="205740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D9488"/>
                </a:solidFill>
              </a:defRPr>
            </a:pPr>
            <a:r>
              <a:t>11.9%</a:t>
            </a:r>
          </a:p>
          <a:p>
            <a:pPr algn="ctr">
              <a:defRPr sz="900">
                <a:solidFill>
                  <a:srgbClr val="475569"/>
                </a:solidFill>
              </a:defRPr>
            </a:pPr>
            <a:r>
              <a:t>SMAPE</a:t>
            </a:r>
          </a:p>
        </p:txBody>
      </p:sp>
      <p:sp>
        <p:nvSpPr>
          <p:cNvPr id="7" name="Rectangle 6"/>
          <p:cNvSpPr/>
          <p:nvPr/>
        </p:nvSpPr>
        <p:spPr>
          <a:xfrm>
            <a:off x="7452360" y="1234440"/>
            <a:ext cx="205740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2563EB"/>
                </a:solidFill>
              </a:defRPr>
            </a:pPr>
            <a:r>
              <a:t>0.729</a:t>
            </a:r>
          </a:p>
          <a:p>
            <a:pPr algn="ctr">
              <a:defRPr sz="900">
                <a:solidFill>
                  <a:srgbClr val="475569"/>
                </a:solidFill>
              </a:defRPr>
            </a:pPr>
            <a:r>
              <a:t>R2</a:t>
            </a:r>
          </a:p>
        </p:txBody>
      </p:sp>
      <p:pic>
        <p:nvPicPr>
          <p:cNvPr id="8" name="Picture 7" descr="forecast_vs_act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423160"/>
            <a:ext cx="5394960" cy="2880360"/>
          </a:xfrm>
          <a:prstGeom prst="rect">
            <a:avLst/>
          </a:prstGeom>
        </p:spPr>
      </p:pic>
      <p:pic>
        <p:nvPicPr>
          <p:cNvPr id="9" name="Picture 8" descr="residua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423160"/>
            <a:ext cx="4983480" cy="2880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881360" y="644652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Тестирование, Docker и CI/CD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Проект готов к воспроизводимому запуску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996696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Тесты pytest: ETL, признаки, набор features, SMAPE и regression metrics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Локальный результат: 7 passed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Docker: python:3.11-slim, непривилегированный пользователь appuser, запуск train-команды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GitHub Actions: установка зависимостей, pytest, сборка Docker image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Мониторинг и выводы для бизнеса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Контроль качества данных, дрейфа и времени обучения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24128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Data quality: пропуски 0% по подготовленным признакам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Drift: PSI выявляет календарный сдвиг на holdout-периоде конца 2024 года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Training time: 24.417 секунд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Рекомендация: использовать прогноз для еженедельного пополнения запасов и переобучать модель ежемесячно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Для редкого спроса дополнить модель правилом минимального страхового запаса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